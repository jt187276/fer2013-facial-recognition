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Newsreader"/>
      <p:regular r:id="rId18"/>
      <p:bold r:id="rId19"/>
      <p:italic r:id="rId20"/>
      <p:boldItalic r:id="rId21"/>
    </p:embeddedFont>
    <p:embeddedFont>
      <p:font typeface="DM Sans Light"/>
      <p:regular r:id="rId22"/>
      <p:bold r:id="rId23"/>
      <p:italic r:id="rId24"/>
      <p:boldItalic r:id="rId25"/>
    </p:embeddedFont>
    <p:embeddedFont>
      <p:font typeface="DM Sans SemiBold"/>
      <p:regular r:id="rId26"/>
      <p:bold r:id="rId27"/>
      <p:italic r:id="rId28"/>
      <p:boldItalic r:id="rId29"/>
    </p:embeddedFont>
    <p:embeddedFont>
      <p:font typeface="DM Sans"/>
      <p:regular r:id="rId30"/>
      <p:bold r:id="rId31"/>
      <p:italic r:id="rId32"/>
      <p:boldItalic r:id="rId33"/>
    </p:embeddedFont>
    <p:embeddedFont>
      <p:font typeface="Newsreader SemiBold"/>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bold.fntdata"/><Relationship Id="rId30" Type="http://schemas.openxmlformats.org/officeDocument/2006/relationships/font" Target="fonts/DMSans-regular.fntdata"/><Relationship Id="rId33" Type="http://schemas.openxmlformats.org/officeDocument/2006/relationships/font" Target="fonts/DMSans-boldItalic.fntdata"/><Relationship Id="rId32" Type="http://schemas.openxmlformats.org/officeDocument/2006/relationships/font" Target="fonts/DMSans-italic.fntdata"/><Relationship Id="rId35" Type="http://schemas.openxmlformats.org/officeDocument/2006/relationships/font" Target="fonts/NewsreaderSemiBold-bold.fntdata"/><Relationship Id="rId34" Type="http://schemas.openxmlformats.org/officeDocument/2006/relationships/font" Target="fonts/NewsreaderSemiBold-regular.fntdata"/><Relationship Id="rId37" Type="http://schemas.openxmlformats.org/officeDocument/2006/relationships/font" Target="fonts/NewsreaderSemiBold-boldItalic.fntdata"/><Relationship Id="rId36" Type="http://schemas.openxmlformats.org/officeDocument/2006/relationships/font" Target="fonts/NewsreaderSemiBold-italic.fntdata"/><Relationship Id="rId20" Type="http://schemas.openxmlformats.org/officeDocument/2006/relationships/font" Target="fonts/Newsreader-italic.fntdata"/><Relationship Id="rId22" Type="http://schemas.openxmlformats.org/officeDocument/2006/relationships/font" Target="fonts/DMSansLight-regular.fntdata"/><Relationship Id="rId21" Type="http://schemas.openxmlformats.org/officeDocument/2006/relationships/font" Target="fonts/Newsreader-boldItalic.fntdata"/><Relationship Id="rId24" Type="http://schemas.openxmlformats.org/officeDocument/2006/relationships/font" Target="fonts/DMSansLight-italic.fntdata"/><Relationship Id="rId23" Type="http://schemas.openxmlformats.org/officeDocument/2006/relationships/font" Target="fonts/DMSansLight-bold.fntdata"/><Relationship Id="rId26" Type="http://schemas.openxmlformats.org/officeDocument/2006/relationships/font" Target="fonts/DMSansSemiBold-regular.fntdata"/><Relationship Id="rId25" Type="http://schemas.openxmlformats.org/officeDocument/2006/relationships/font" Target="fonts/DMSansLight-boldItalic.fntdata"/><Relationship Id="rId28" Type="http://schemas.openxmlformats.org/officeDocument/2006/relationships/font" Target="fonts/DMSansSemiBold-italic.fntdata"/><Relationship Id="rId27" Type="http://schemas.openxmlformats.org/officeDocument/2006/relationships/font" Target="fonts/DMSansSemiBold-bold.fntdata"/><Relationship Id="rId29" Type="http://schemas.openxmlformats.org/officeDocument/2006/relationships/font" Target="fonts/DMSansSemi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Newsreader-bold.fntdata"/><Relationship Id="rId18" Type="http://schemas.openxmlformats.org/officeDocument/2006/relationships/font" Target="fonts/Newsread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6e0fb4e7f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96e0fb4e7f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96e0fb4e7f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96e0fb4e7f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d5a5f578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d5a5f578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96e0fb4e7f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96e0fb4e7f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fa580cd7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fa580cd7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96e0fb4e7f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96e0fb4e7f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fa2e20d2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fa2e20d2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fa3094551a_4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fa3094551a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fa3ea8045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fa3ea8045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fa580cd71a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fa580cd71a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96e0fb4e7f_0_1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96e0fb4e7f_0_1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xml"/><Relationship Id="rId3" Type="http://schemas.openxmlformats.org/officeDocument/2006/relationships/hyperlink" Target="https://www.kaggle.com/datasets/msambare/fer2013" TargetMode="External"/><Relationship Id="rId4" Type="http://schemas.openxmlformats.org/officeDocument/2006/relationships/image" Target="../media/image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 Id="rId3" Type="http://schemas.openxmlformats.org/officeDocument/2006/relationships/hyperlink" Target="https://github.com/jt187276/FER2013-Facial-Recognit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I - Artificial intelligence. Robotics head and face with neural network thinks. Copy space. (Provided by Getty Images)" id="513" name="Google Shape;513;p67"/>
          <p:cNvPicPr preferRelativeResize="0"/>
          <p:nvPr/>
        </p:nvPicPr>
        <p:blipFill rotWithShape="1">
          <a:blip r:embed="rId3">
            <a:alphaModFix/>
          </a:blip>
          <a:srcRect b="0" l="31418" r="31418" t="0"/>
          <a:stretch/>
        </p:blipFill>
        <p:spPr>
          <a:xfrm>
            <a:off x="4587725" y="1085"/>
            <a:ext cx="4572001" cy="5148074"/>
          </a:xfrm>
          <a:prstGeom prst="rect">
            <a:avLst/>
          </a:prstGeom>
          <a:noFill/>
          <a:ln>
            <a:noFill/>
          </a:ln>
        </p:spPr>
      </p:pic>
      <p:sp>
        <p:nvSpPr>
          <p:cNvPr id="514" name="Google Shape;514;p67"/>
          <p:cNvSpPr txBox="1"/>
          <p:nvPr>
            <p:ph type="title"/>
          </p:nvPr>
        </p:nvSpPr>
        <p:spPr>
          <a:xfrm>
            <a:off x="361975" y="1747650"/>
            <a:ext cx="3860100" cy="164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Facial Recognition Project</a:t>
            </a:r>
            <a:endParaRPr/>
          </a:p>
        </p:txBody>
      </p:sp>
      <p:sp>
        <p:nvSpPr>
          <p:cNvPr id="515" name="Google Shape;515;p67"/>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Jacqueline Tang</a:t>
            </a:r>
            <a:endParaRPr/>
          </a:p>
        </p:txBody>
      </p:sp>
      <p:sp>
        <p:nvSpPr>
          <p:cNvPr id="516" name="Google Shape;516;p67"/>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How machine learning can bridge emotional gaps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8"/>
          <p:cNvSpPr txBox="1"/>
          <p:nvPr>
            <p:ph type="title"/>
          </p:nvPr>
        </p:nvSpPr>
        <p:spPr>
          <a:xfrm>
            <a:off x="361975" y="988550"/>
            <a:ext cx="5356800" cy="285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What is this trying to accomplish?</a:t>
            </a:r>
            <a:endParaRPr b="1"/>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sz="1800"/>
              <a:t>Help out those with alexithymia (emotional blindness), especially neurodivergent people (non-medical term encompassing a wide variety of mental disorders), to express and communicate emotions</a:t>
            </a:r>
            <a:endParaRPr sz="1800"/>
          </a:p>
          <a:p>
            <a:pPr indent="-342900" lvl="0" marL="457200" rtl="0" algn="l">
              <a:spcBef>
                <a:spcPts val="0"/>
              </a:spcBef>
              <a:spcAft>
                <a:spcPts val="0"/>
              </a:spcAft>
              <a:buSzPts val="1800"/>
              <a:buChar char="-"/>
            </a:pPr>
            <a:r>
              <a:rPr lang="en" sz="1800"/>
              <a:t>Can deep-learning be used as a solution? Will neurodivergent people have a better chance at expressing their emotions? Can those emotions be handled better?</a:t>
            </a:r>
            <a:endParaRPr sz="1800"/>
          </a:p>
          <a:p>
            <a:pPr indent="-342900" lvl="0" marL="457200" rtl="0" algn="l">
              <a:spcBef>
                <a:spcPts val="0"/>
              </a:spcBef>
              <a:spcAft>
                <a:spcPts val="0"/>
              </a:spcAft>
              <a:buSzPts val="1800"/>
              <a:buChar char="-"/>
            </a:pPr>
            <a:r>
              <a:rPr lang="en" sz="1800"/>
              <a:t>Can caretakers use this technology to help these people?</a:t>
            </a:r>
            <a:endParaRPr sz="1800"/>
          </a:p>
          <a:p>
            <a:pPr indent="0" lvl="0" marL="0" rtl="0" algn="l">
              <a:spcBef>
                <a:spcPts val="0"/>
              </a:spcBef>
              <a:spcAft>
                <a:spcPts val="0"/>
              </a:spcAft>
              <a:buNone/>
            </a:pPr>
            <a:r>
              <a:t/>
            </a:r>
            <a:endParaRPr/>
          </a:p>
        </p:txBody>
      </p:sp>
      <p:sp>
        <p:nvSpPr>
          <p:cNvPr id="522" name="Google Shape;522;p6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23" name="Google Shape;523;p68"/>
          <p:cNvPicPr preferRelativeResize="0"/>
          <p:nvPr/>
        </p:nvPicPr>
        <p:blipFill rotWithShape="1">
          <a:blip r:embed="rId3">
            <a:alphaModFix/>
          </a:blip>
          <a:srcRect b="0" l="18063" r="18063" t="0"/>
          <a:stretch/>
        </p:blipFill>
        <p:spPr>
          <a:xfrm>
            <a:off x="6289150" y="1793125"/>
            <a:ext cx="2853300" cy="3350400"/>
          </a:xfrm>
          <a:prstGeom prst="rect">
            <a:avLst/>
          </a:prstGeom>
          <a:noFill/>
          <a:ln>
            <a:noFill/>
          </a:ln>
        </p:spPr>
      </p:pic>
      <p:cxnSp>
        <p:nvCxnSpPr>
          <p:cNvPr id="524" name="Google Shape;524;p68"/>
          <p:cNvCxnSpPr/>
          <p:nvPr/>
        </p:nvCxnSpPr>
        <p:spPr>
          <a:xfrm>
            <a:off x="356100" y="4904944"/>
            <a:ext cx="5362800" cy="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69"/>
          <p:cNvSpPr txBox="1"/>
          <p:nvPr>
            <p:ph type="title"/>
          </p:nvPr>
        </p:nvSpPr>
        <p:spPr>
          <a:xfrm>
            <a:off x="1128900" y="1430400"/>
            <a:ext cx="6886200" cy="2282700"/>
          </a:xfrm>
          <a:prstGeom prst="rect">
            <a:avLst/>
          </a:prstGeom>
        </p:spPr>
        <p:txBody>
          <a:bodyPr anchorCtr="0" anchor="ctr" bIns="0" lIns="0" spcFirstLastPara="1" rIns="0" wrap="square" tIns="0">
            <a:noAutofit/>
          </a:bodyPr>
          <a:lstStyle/>
          <a:p>
            <a:pPr indent="0" lvl="0" marL="0" marR="203200" rtl="0" algn="ctr">
              <a:spcBef>
                <a:spcPts val="0"/>
              </a:spcBef>
              <a:spcAft>
                <a:spcPts val="0"/>
              </a:spcAft>
              <a:buNone/>
            </a:pPr>
            <a:r>
              <a:rPr lang="en"/>
              <a:t>How can we use a model trained from scratch to help neurodivergent people express their emotions using facial recognition technology?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6" name="Google Shape;536;p70"/>
          <p:cNvSpPr txBox="1"/>
          <p:nvPr>
            <p:ph idx="2" type="subTitle"/>
          </p:nvPr>
        </p:nvSpPr>
        <p:spPr>
          <a:xfrm>
            <a:off x="3705400" y="678072"/>
            <a:ext cx="4163100" cy="3078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b="1" lang="en" sz="2000"/>
              <a:t>Solution/Approach</a:t>
            </a:r>
            <a:endParaRPr b="1" sz="2000"/>
          </a:p>
        </p:txBody>
      </p:sp>
      <p:sp>
        <p:nvSpPr>
          <p:cNvPr id="537" name="Google Shape;537;p70"/>
          <p:cNvSpPr txBox="1"/>
          <p:nvPr>
            <p:ph type="title"/>
          </p:nvPr>
        </p:nvSpPr>
        <p:spPr>
          <a:xfrm>
            <a:off x="3154650" y="1162250"/>
            <a:ext cx="5861400" cy="34641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Char char="●"/>
            </a:pPr>
            <a:r>
              <a:rPr lang="en" sz="2000"/>
              <a:t>Test various pretrained models that have been fine-tuned along with a model trained from scratch towards facial emotion recognition by training on labeled dataset.</a:t>
            </a:r>
            <a:endParaRPr sz="2000"/>
          </a:p>
          <a:p>
            <a:pPr indent="-355600" lvl="0" marL="457200" rtl="0" algn="l">
              <a:spcBef>
                <a:spcPts val="1000"/>
              </a:spcBef>
              <a:spcAft>
                <a:spcPts val="0"/>
              </a:spcAft>
              <a:buSzPts val="2000"/>
              <a:buChar char="●"/>
            </a:pPr>
            <a:r>
              <a:rPr lang="en" sz="2000"/>
              <a:t>Goal: Classify facial images with 8 classes based on expressed emotion.</a:t>
            </a:r>
            <a:endParaRPr sz="2000"/>
          </a:p>
          <a:p>
            <a:pPr indent="-355600" lvl="0" marL="457200" rtl="0" algn="l">
              <a:spcBef>
                <a:spcPts val="1000"/>
              </a:spcBef>
              <a:spcAft>
                <a:spcPts val="0"/>
              </a:spcAft>
              <a:buSzPts val="2000"/>
              <a:buChar char="●"/>
            </a:pPr>
            <a:r>
              <a:rPr lang="en" sz="2000"/>
              <a:t>Kaggle Dataset used: </a:t>
            </a:r>
            <a:r>
              <a:rPr lang="en" sz="2000" u="sng">
                <a:hlinkClick r:id="rId3"/>
              </a:rPr>
              <a:t>FER2013</a:t>
            </a:r>
            <a:r>
              <a:rPr lang="en" sz="2000"/>
              <a:t> (Predetermined training/testing sets)</a:t>
            </a:r>
            <a:endParaRPr sz="2000"/>
          </a:p>
          <a:p>
            <a:pPr indent="-355600" lvl="0" marL="457200" rtl="0" algn="l">
              <a:spcBef>
                <a:spcPts val="1000"/>
              </a:spcBef>
              <a:spcAft>
                <a:spcPts val="1000"/>
              </a:spcAft>
              <a:buSzPts val="2000"/>
              <a:buChar char="●"/>
            </a:pPr>
            <a:r>
              <a:rPr lang="en" sz="2000"/>
              <a:t>80/20 Training/Validation split. Testing dataset provided separately.</a:t>
            </a:r>
            <a:endParaRPr sz="2000"/>
          </a:p>
        </p:txBody>
      </p:sp>
      <p:pic>
        <p:nvPicPr>
          <p:cNvPr id="538" name="Google Shape;538;p70"/>
          <p:cNvPicPr preferRelativeResize="0"/>
          <p:nvPr/>
        </p:nvPicPr>
        <p:blipFill rotWithShape="1">
          <a:blip r:embed="rId4">
            <a:alphaModFix/>
          </a:blip>
          <a:srcRect b="0" l="28638" r="27983" t="19814"/>
          <a:stretch/>
        </p:blipFill>
        <p:spPr>
          <a:xfrm>
            <a:off x="304500" y="3048975"/>
            <a:ext cx="2662776" cy="1036450"/>
          </a:xfrm>
          <a:prstGeom prst="rect">
            <a:avLst/>
          </a:prstGeom>
          <a:noFill/>
          <a:ln>
            <a:noFill/>
          </a:ln>
        </p:spPr>
      </p:pic>
      <p:pic>
        <p:nvPicPr>
          <p:cNvPr id="539" name="Google Shape;539;p70"/>
          <p:cNvPicPr preferRelativeResize="0"/>
          <p:nvPr/>
        </p:nvPicPr>
        <p:blipFill rotWithShape="1">
          <a:blip r:embed="rId5">
            <a:alphaModFix/>
          </a:blip>
          <a:srcRect b="31822" l="0" r="0" t="26586"/>
          <a:stretch/>
        </p:blipFill>
        <p:spPr>
          <a:xfrm>
            <a:off x="263800" y="1066100"/>
            <a:ext cx="2744175" cy="11413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5" name="Google Shape;545;p71"/>
          <p:cNvSpPr txBox="1"/>
          <p:nvPr>
            <p:ph idx="2" type="subTitle"/>
          </p:nvPr>
        </p:nvSpPr>
        <p:spPr>
          <a:xfrm>
            <a:off x="2490450" y="585250"/>
            <a:ext cx="4163100" cy="3387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b="1" lang="en" sz="2200">
                <a:latin typeface="DM Sans"/>
                <a:ea typeface="DM Sans"/>
                <a:cs typeface="DM Sans"/>
                <a:sym typeface="DM Sans"/>
              </a:rPr>
              <a:t>Results</a:t>
            </a:r>
            <a:endParaRPr b="1" sz="2200">
              <a:latin typeface="DM Sans"/>
              <a:ea typeface="DM Sans"/>
              <a:cs typeface="DM Sans"/>
              <a:sym typeface="DM Sans"/>
            </a:endParaRPr>
          </a:p>
        </p:txBody>
      </p:sp>
      <p:sp>
        <p:nvSpPr>
          <p:cNvPr id="546" name="Google Shape;546;p71"/>
          <p:cNvSpPr txBox="1"/>
          <p:nvPr>
            <p:ph type="title"/>
          </p:nvPr>
        </p:nvSpPr>
        <p:spPr>
          <a:xfrm>
            <a:off x="152400" y="1066100"/>
            <a:ext cx="5170200" cy="3485100"/>
          </a:xfrm>
          <a:prstGeom prst="rect">
            <a:avLst/>
          </a:prstGeom>
        </p:spPr>
        <p:txBody>
          <a:bodyPr anchorCtr="0" anchor="t" bIns="0" lIns="0" spcFirstLastPara="1" rIns="0" wrap="square" tIns="0">
            <a:noAutofit/>
          </a:bodyPr>
          <a:lstStyle/>
          <a:p>
            <a:pPr indent="0" lvl="0" marL="0" marR="203200" rtl="0" algn="l">
              <a:spcBef>
                <a:spcPts val="0"/>
              </a:spcBef>
              <a:spcAft>
                <a:spcPts val="0"/>
              </a:spcAft>
              <a:buNone/>
            </a:pPr>
            <a:r>
              <a:rPr b="1" lang="en" sz="1800"/>
              <a:t>Total Test Accuracy: 68.18%</a:t>
            </a:r>
            <a:endParaRPr b="1" sz="1800"/>
          </a:p>
          <a:p>
            <a:pPr indent="-342900" lvl="0" marL="457200" marR="203200" rtl="0" algn="l">
              <a:spcBef>
                <a:spcPts val="1000"/>
              </a:spcBef>
              <a:spcAft>
                <a:spcPts val="0"/>
              </a:spcAft>
              <a:buSzPts val="1800"/>
              <a:buChar char="-"/>
            </a:pPr>
            <a:r>
              <a:rPr lang="en" sz="1800"/>
              <a:t>‘Happy’ in FER2013 had 1774 images but ‘Disgust’ had 111, result of class imbalance.</a:t>
            </a:r>
            <a:endParaRPr sz="1800"/>
          </a:p>
          <a:p>
            <a:pPr indent="-342900" lvl="0" marL="457200" marR="203200" rtl="0" algn="l">
              <a:spcBef>
                <a:spcPts val="1000"/>
              </a:spcBef>
              <a:spcAft>
                <a:spcPts val="0"/>
              </a:spcAft>
              <a:buSzPts val="1800"/>
              <a:buChar char="-"/>
            </a:pPr>
            <a:r>
              <a:rPr lang="en" sz="1800"/>
              <a:t>‘Fear’ with high Precision but low Recall →</a:t>
            </a:r>
            <a:br>
              <a:rPr lang="en" sz="1800"/>
            </a:br>
            <a:r>
              <a:rPr lang="en" sz="1800"/>
              <a:t>Model misses many true “Fear” labels.</a:t>
            </a:r>
            <a:endParaRPr sz="1800"/>
          </a:p>
          <a:p>
            <a:pPr indent="-342900" lvl="0" marL="457200" marR="203200" rtl="0" algn="l">
              <a:spcBef>
                <a:spcPts val="1000"/>
              </a:spcBef>
              <a:spcAft>
                <a:spcPts val="0"/>
              </a:spcAft>
              <a:buSzPts val="1800"/>
              <a:buChar char="-"/>
            </a:pPr>
            <a:r>
              <a:rPr lang="en" sz="1800"/>
              <a:t>‘Disgust’ with high Recall but low Precision → Model tends to incorrectly label other labels as ‘disgust’.</a:t>
            </a:r>
            <a:endParaRPr sz="1800"/>
          </a:p>
          <a:p>
            <a:pPr indent="-342900" lvl="0" marL="457200" marR="203200" rtl="0" algn="l">
              <a:spcBef>
                <a:spcPts val="1000"/>
              </a:spcBef>
              <a:spcAft>
                <a:spcPts val="0"/>
              </a:spcAft>
              <a:buSzPts val="1800"/>
              <a:buChar char="-"/>
            </a:pPr>
            <a:r>
              <a:rPr lang="en" sz="1800"/>
              <a:t>Best scoring class → ‘Happy’</a:t>
            </a:r>
            <a:endParaRPr sz="1800"/>
          </a:p>
          <a:p>
            <a:pPr indent="0" lvl="0" marL="0" marR="203200" rtl="0" algn="l">
              <a:spcBef>
                <a:spcPts val="1000"/>
              </a:spcBef>
              <a:spcAft>
                <a:spcPts val="0"/>
              </a:spcAft>
              <a:buNone/>
            </a:pPr>
            <a:r>
              <a:t/>
            </a:r>
            <a:endParaRPr sz="1800"/>
          </a:p>
          <a:p>
            <a:pPr indent="0" lvl="0" marL="0" marR="203200" rtl="0" algn="l">
              <a:spcBef>
                <a:spcPts val="0"/>
              </a:spcBef>
              <a:spcAft>
                <a:spcPts val="0"/>
              </a:spcAft>
              <a:buNone/>
            </a:pPr>
            <a:r>
              <a:t/>
            </a:r>
            <a:endParaRPr sz="1800"/>
          </a:p>
        </p:txBody>
      </p:sp>
      <p:pic>
        <p:nvPicPr>
          <p:cNvPr id="547" name="Google Shape;547;p71"/>
          <p:cNvPicPr preferRelativeResize="0"/>
          <p:nvPr/>
        </p:nvPicPr>
        <p:blipFill>
          <a:blip r:embed="rId3">
            <a:alphaModFix/>
          </a:blip>
          <a:stretch>
            <a:fillRect/>
          </a:stretch>
        </p:blipFill>
        <p:spPr>
          <a:xfrm>
            <a:off x="5651550" y="217725"/>
            <a:ext cx="2892524" cy="2544113"/>
          </a:xfrm>
          <a:prstGeom prst="rect">
            <a:avLst/>
          </a:prstGeom>
          <a:noFill/>
          <a:ln>
            <a:noFill/>
          </a:ln>
        </p:spPr>
      </p:pic>
      <p:pic>
        <p:nvPicPr>
          <p:cNvPr id="548" name="Google Shape;548;p71"/>
          <p:cNvPicPr preferRelativeResize="0"/>
          <p:nvPr/>
        </p:nvPicPr>
        <p:blipFill>
          <a:blip r:embed="rId4">
            <a:alphaModFix/>
          </a:blip>
          <a:stretch>
            <a:fillRect/>
          </a:stretch>
        </p:blipFill>
        <p:spPr>
          <a:xfrm>
            <a:off x="5712850" y="2906550"/>
            <a:ext cx="2892524" cy="2038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2"/>
          <p:cNvSpPr/>
          <p:nvPr/>
        </p:nvSpPr>
        <p:spPr>
          <a:xfrm>
            <a:off x="0" y="1212551"/>
            <a:ext cx="9144000" cy="393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54" name="Google Shape;554;p72"/>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5" name="Google Shape;555;p72"/>
          <p:cNvSpPr txBox="1"/>
          <p:nvPr>
            <p:ph type="title"/>
          </p:nvPr>
        </p:nvSpPr>
        <p:spPr>
          <a:xfrm>
            <a:off x="1406550" y="644353"/>
            <a:ext cx="6330900" cy="35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2900"/>
              <a:t>Problems and Limitations.</a:t>
            </a:r>
            <a:endParaRPr b="1" sz="2900"/>
          </a:p>
        </p:txBody>
      </p:sp>
      <p:sp>
        <p:nvSpPr>
          <p:cNvPr id="556" name="Google Shape;556;p72"/>
          <p:cNvSpPr txBox="1"/>
          <p:nvPr/>
        </p:nvSpPr>
        <p:spPr>
          <a:xfrm>
            <a:off x="218000" y="1370950"/>
            <a:ext cx="3749700" cy="15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Class Labels:</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Labels don’t necessarily pass the eye test. Overlap between different labels could significantly hamper training.</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Model will struggle with emotions that have less distinguishing features.</a:t>
            </a:r>
            <a:endParaRPr sz="1200">
              <a:solidFill>
                <a:schemeClr val="dk1"/>
              </a:solidFill>
              <a:latin typeface="DM Sans"/>
              <a:ea typeface="DM Sans"/>
              <a:cs typeface="DM Sans"/>
              <a:sym typeface="DM Sans"/>
            </a:endParaRPr>
          </a:p>
        </p:txBody>
      </p:sp>
      <p:pic>
        <p:nvPicPr>
          <p:cNvPr id="557" name="Google Shape;557;p72"/>
          <p:cNvPicPr preferRelativeResize="0"/>
          <p:nvPr/>
        </p:nvPicPr>
        <p:blipFill>
          <a:blip r:embed="rId3">
            <a:alphaModFix/>
          </a:blip>
          <a:stretch>
            <a:fillRect/>
          </a:stretch>
        </p:blipFill>
        <p:spPr>
          <a:xfrm>
            <a:off x="667425" y="2829488"/>
            <a:ext cx="1130025" cy="1130025"/>
          </a:xfrm>
          <a:prstGeom prst="rect">
            <a:avLst/>
          </a:prstGeom>
          <a:noFill/>
          <a:ln>
            <a:noFill/>
          </a:ln>
        </p:spPr>
      </p:pic>
      <p:pic>
        <p:nvPicPr>
          <p:cNvPr id="558" name="Google Shape;558;p72"/>
          <p:cNvPicPr preferRelativeResize="0"/>
          <p:nvPr/>
        </p:nvPicPr>
        <p:blipFill>
          <a:blip r:embed="rId4">
            <a:alphaModFix/>
          </a:blip>
          <a:stretch>
            <a:fillRect/>
          </a:stretch>
        </p:blipFill>
        <p:spPr>
          <a:xfrm>
            <a:off x="2329788" y="2857487"/>
            <a:ext cx="1074025" cy="1074025"/>
          </a:xfrm>
          <a:prstGeom prst="rect">
            <a:avLst/>
          </a:prstGeom>
          <a:noFill/>
          <a:ln>
            <a:noFill/>
          </a:ln>
        </p:spPr>
      </p:pic>
      <p:sp>
        <p:nvSpPr>
          <p:cNvPr id="559" name="Google Shape;559;p72"/>
          <p:cNvSpPr txBox="1"/>
          <p:nvPr/>
        </p:nvSpPr>
        <p:spPr>
          <a:xfrm>
            <a:off x="361975" y="3931513"/>
            <a:ext cx="1740900" cy="35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True Label: “Angry”</a:t>
            </a:r>
            <a:endParaRPr sz="1200">
              <a:solidFill>
                <a:schemeClr val="dk1"/>
              </a:solidFill>
              <a:latin typeface="DM Sans"/>
              <a:ea typeface="DM Sans"/>
              <a:cs typeface="DM Sans"/>
              <a:sym typeface="DM Sans"/>
            </a:endParaRPr>
          </a:p>
        </p:txBody>
      </p:sp>
      <p:sp>
        <p:nvSpPr>
          <p:cNvPr id="560" name="Google Shape;560;p72"/>
          <p:cNvSpPr txBox="1"/>
          <p:nvPr/>
        </p:nvSpPr>
        <p:spPr>
          <a:xfrm>
            <a:off x="1996338" y="3931513"/>
            <a:ext cx="1740900" cy="35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True Label: “Disgust”</a:t>
            </a:r>
            <a:endParaRPr sz="1200">
              <a:solidFill>
                <a:schemeClr val="dk1"/>
              </a:solidFill>
              <a:latin typeface="DM Sans"/>
              <a:ea typeface="DM Sans"/>
              <a:cs typeface="DM Sans"/>
              <a:sym typeface="DM Sans"/>
            </a:endParaRPr>
          </a:p>
        </p:txBody>
      </p:sp>
      <p:sp>
        <p:nvSpPr>
          <p:cNvPr id="561" name="Google Shape;561;p72"/>
          <p:cNvSpPr txBox="1"/>
          <p:nvPr/>
        </p:nvSpPr>
        <p:spPr>
          <a:xfrm>
            <a:off x="592850" y="4243263"/>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Can you tell the difference?</a:t>
            </a:r>
            <a:endParaRPr/>
          </a:p>
        </p:txBody>
      </p:sp>
      <p:sp>
        <p:nvSpPr>
          <p:cNvPr id="562" name="Google Shape;562;p72"/>
          <p:cNvSpPr txBox="1"/>
          <p:nvPr/>
        </p:nvSpPr>
        <p:spPr>
          <a:xfrm>
            <a:off x="5086500" y="1370950"/>
            <a:ext cx="3840600" cy="21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Class Imbalance:</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Training dataset </a:t>
            </a:r>
            <a:r>
              <a:rPr b="1" lang="en" sz="1200" u="sng">
                <a:solidFill>
                  <a:schemeClr val="dk1"/>
                </a:solidFill>
                <a:latin typeface="DM Sans"/>
                <a:ea typeface="DM Sans"/>
                <a:cs typeface="DM Sans"/>
                <a:sym typeface="DM Sans"/>
              </a:rPr>
              <a:t>heavily</a:t>
            </a:r>
            <a:r>
              <a:rPr lang="en" sz="1200">
                <a:solidFill>
                  <a:schemeClr val="dk1"/>
                </a:solidFill>
                <a:latin typeface="DM Sans"/>
                <a:ea typeface="DM Sans"/>
                <a:cs typeface="DM Sans"/>
                <a:sym typeface="DM Sans"/>
              </a:rPr>
              <a:t> imbalanced. 436 “Disgust” samples vs. 4097 “Fear” samples.</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Result → Weak discriminating ability between “Disgust” and other labels.</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Addressed issue by weighting samples based on labels. </a:t>
            </a:r>
            <a:endParaRPr sz="1200">
              <a:solidFill>
                <a:schemeClr val="dk1"/>
              </a:solidFill>
              <a:latin typeface="DM Sans"/>
              <a:ea typeface="DM Sans"/>
              <a:cs typeface="DM Sans"/>
              <a:sym typeface="DM Sans"/>
            </a:endParaRPr>
          </a:p>
        </p:txBody>
      </p:sp>
      <p:pic>
        <p:nvPicPr>
          <p:cNvPr id="563" name="Google Shape;563;p72"/>
          <p:cNvPicPr preferRelativeResize="0"/>
          <p:nvPr/>
        </p:nvPicPr>
        <p:blipFill rotWithShape="1">
          <a:blip r:embed="rId5">
            <a:alphaModFix/>
          </a:blip>
          <a:srcRect b="0" l="0" r="59037" t="29800"/>
          <a:stretch/>
        </p:blipFill>
        <p:spPr>
          <a:xfrm>
            <a:off x="5956500" y="3043800"/>
            <a:ext cx="2188875" cy="1130025"/>
          </a:xfrm>
          <a:prstGeom prst="rect">
            <a:avLst/>
          </a:prstGeom>
          <a:noFill/>
          <a:ln>
            <a:noFill/>
          </a:ln>
        </p:spPr>
      </p:pic>
      <p:sp>
        <p:nvSpPr>
          <p:cNvPr id="564" name="Google Shape;564;p72"/>
          <p:cNvSpPr txBox="1"/>
          <p:nvPr/>
        </p:nvSpPr>
        <p:spPr>
          <a:xfrm>
            <a:off x="5583788" y="4259781"/>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Each class’s weight</a:t>
            </a:r>
            <a:endParaRPr/>
          </a:p>
        </p:txBody>
      </p:sp>
      <p:sp>
        <p:nvSpPr>
          <p:cNvPr id="565" name="Google Shape;565;p72"/>
          <p:cNvSpPr txBox="1"/>
          <p:nvPr/>
        </p:nvSpPr>
        <p:spPr>
          <a:xfrm>
            <a:off x="1684800" y="4622788"/>
            <a:ext cx="5774400" cy="23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DM Sans"/>
                <a:ea typeface="DM Sans"/>
                <a:cs typeface="DM Sans"/>
                <a:sym typeface="DM Sans"/>
              </a:rPr>
              <a:t>This could be a bottleneck in our model’s performances!</a:t>
            </a:r>
            <a:endParaRPr sz="120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3"/>
          <p:cNvSpPr txBox="1"/>
          <p:nvPr>
            <p:ph idx="8" type="body"/>
          </p:nvPr>
        </p:nvSpPr>
        <p:spPr>
          <a:xfrm>
            <a:off x="361975" y="942350"/>
            <a:ext cx="4562400" cy="4008900"/>
          </a:xfrm>
          <a:prstGeom prst="rect">
            <a:avLst/>
          </a:prstGeom>
        </p:spPr>
        <p:txBody>
          <a:bodyPr anchorCtr="0" anchor="t" bIns="0" lIns="0" spcFirstLastPara="1" rIns="0" wrap="square" tIns="0">
            <a:noAutofit/>
          </a:bodyPr>
          <a:lstStyle/>
          <a:p>
            <a:pPr indent="-304800" lvl="0" marL="4572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Data Preprocessing (</a:t>
            </a:r>
            <a:r>
              <a:rPr b="1" lang="en" sz="1200">
                <a:solidFill>
                  <a:srgbClr val="FFFFFF"/>
                </a:solidFill>
                <a:latin typeface="Courier New"/>
                <a:ea typeface="Courier New"/>
                <a:cs typeface="Courier New"/>
                <a:sym typeface="Courier New"/>
              </a:rPr>
              <a:t>01_prepare_data.ipynb</a:t>
            </a:r>
            <a:r>
              <a:rPr b="1" lang="en" sz="1200">
                <a:solidFill>
                  <a:srgbClr val="FFFFFF"/>
                </a:solidFill>
                <a:latin typeface="Source Sans Pro"/>
                <a:ea typeface="Source Sans Pro"/>
                <a:cs typeface="Source Sans Pro"/>
                <a:sym typeface="Source Sans Pro"/>
              </a:rPr>
              <a:t>)</a:t>
            </a:r>
            <a:r>
              <a:rPr lang="en" sz="1200">
                <a:solidFill>
                  <a:srgbClr val="FFFFFF"/>
                </a:solidFill>
                <a:latin typeface="Source Sans Pro"/>
                <a:ea typeface="Source Sans Pro"/>
                <a:cs typeface="Source Sans Pro"/>
                <a:sym typeface="Source Sans Pro"/>
              </a:rPr>
              <a:t>: </a:t>
            </a:r>
            <a:endParaRPr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Training Data</a:t>
            </a:r>
            <a:r>
              <a:rPr lang="en" sz="1200">
                <a:solidFill>
                  <a:srgbClr val="FFFFFF"/>
                </a:solidFill>
                <a:latin typeface="Source Sans Pro"/>
                <a:ea typeface="Source Sans Pro"/>
                <a:cs typeface="Source Sans Pro"/>
                <a:sym typeface="Source Sans Pro"/>
              </a:rPr>
              <a:t>: We perform a 80-20 Stratified Split across all classes for a </a:t>
            </a:r>
            <a:r>
              <a:rPr i="1" lang="en" sz="1200">
                <a:solidFill>
                  <a:srgbClr val="FFFFFF"/>
                </a:solidFill>
                <a:latin typeface="Source Sans Pro"/>
                <a:ea typeface="Source Sans Pro"/>
                <a:cs typeface="Source Sans Pro"/>
                <a:sym typeface="Source Sans Pro"/>
              </a:rPr>
              <a:t>training </a:t>
            </a:r>
            <a:r>
              <a:rPr lang="en" sz="1200">
                <a:solidFill>
                  <a:srgbClr val="FFFFFF"/>
                </a:solidFill>
                <a:latin typeface="Source Sans Pro"/>
                <a:ea typeface="Source Sans Pro"/>
                <a:cs typeface="Source Sans Pro"/>
                <a:sym typeface="Source Sans Pro"/>
              </a:rPr>
              <a:t>and </a:t>
            </a:r>
            <a:r>
              <a:rPr i="1" lang="en" sz="1200">
                <a:solidFill>
                  <a:srgbClr val="FFFFFF"/>
                </a:solidFill>
                <a:latin typeface="Source Sans Pro"/>
                <a:ea typeface="Source Sans Pro"/>
                <a:cs typeface="Source Sans Pro"/>
                <a:sym typeface="Source Sans Pro"/>
              </a:rPr>
              <a:t>validation</a:t>
            </a:r>
            <a:r>
              <a:rPr lang="en" sz="1200">
                <a:solidFill>
                  <a:srgbClr val="FFFFFF"/>
                </a:solidFill>
                <a:latin typeface="Source Sans Pro"/>
                <a:ea typeface="Source Sans Pro"/>
                <a:cs typeface="Source Sans Pro"/>
                <a:sym typeface="Source Sans Pro"/>
              </a:rPr>
              <a:t> dataset. Test data is provided by the FER2013 Dataset.</a:t>
            </a:r>
            <a:endParaRPr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lang="en" sz="1200">
                <a:solidFill>
                  <a:srgbClr val="FFFFFF"/>
                </a:solidFill>
                <a:latin typeface="Source Sans Pro"/>
                <a:ea typeface="Source Sans Pro"/>
                <a:cs typeface="Source Sans Pro"/>
                <a:sym typeface="Source Sans Pro"/>
              </a:rPr>
              <a:t>Saves a </a:t>
            </a:r>
            <a:r>
              <a:rPr b="1" lang="en" sz="1200">
                <a:solidFill>
                  <a:srgbClr val="FFFFFF"/>
                </a:solidFill>
                <a:latin typeface="Source Sans Pro"/>
                <a:ea typeface="Source Sans Pro"/>
                <a:cs typeface="Source Sans Pro"/>
                <a:sym typeface="Source Sans Pro"/>
              </a:rPr>
              <a:t>single, unified</a:t>
            </a:r>
            <a:r>
              <a:rPr lang="en" sz="1200">
                <a:solidFill>
                  <a:srgbClr val="FFFFFF"/>
                </a:solidFill>
                <a:latin typeface="Source Sans Pro"/>
                <a:ea typeface="Source Sans Pro"/>
                <a:cs typeface="Source Sans Pro"/>
                <a:sym typeface="Source Sans Pro"/>
              </a:rPr>
              <a:t> set of split data in our drive that is used for all model training.</a:t>
            </a:r>
            <a:endParaRPr sz="1200">
              <a:solidFill>
                <a:srgbClr val="FFFFFF"/>
              </a:solidFill>
              <a:latin typeface="Source Sans Pro"/>
              <a:ea typeface="Source Sans Pro"/>
              <a:cs typeface="Source Sans Pro"/>
              <a:sym typeface="Source Sans Pro"/>
            </a:endParaRPr>
          </a:p>
          <a:p>
            <a:pPr indent="-304800" lvl="0" marL="4572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Model Training</a:t>
            </a:r>
            <a:r>
              <a:rPr b="1" lang="en" sz="1200">
                <a:solidFill>
                  <a:srgbClr val="FFFFFF"/>
                </a:solidFill>
                <a:latin typeface="Source Sans Pro"/>
                <a:ea typeface="Source Sans Pro"/>
                <a:cs typeface="Source Sans Pro"/>
                <a:sym typeface="Source Sans Pro"/>
              </a:rPr>
              <a:t> (</a:t>
            </a:r>
            <a:r>
              <a:rPr b="1" lang="en" sz="1200">
                <a:solidFill>
                  <a:srgbClr val="FFFFFF"/>
                </a:solidFill>
                <a:latin typeface="Courier New"/>
                <a:ea typeface="Courier New"/>
                <a:cs typeface="Courier New"/>
                <a:sym typeface="Courier New"/>
              </a:rPr>
              <a:t>02_train_model.ipynb</a:t>
            </a:r>
            <a:r>
              <a:rPr b="1" lang="en" sz="1200">
                <a:solidFill>
                  <a:srgbClr val="FFFFFF"/>
                </a:solidFill>
                <a:latin typeface="Source Sans Pro"/>
                <a:ea typeface="Source Sans Pro"/>
                <a:cs typeface="Source Sans Pro"/>
                <a:sym typeface="Source Sans Pro"/>
              </a:rPr>
              <a:t>)</a:t>
            </a:r>
            <a:r>
              <a:rPr lang="en" sz="1200">
                <a:solidFill>
                  <a:srgbClr val="FFFFFF"/>
                </a:solidFill>
                <a:latin typeface="Source Sans Pro"/>
                <a:ea typeface="Source Sans Pro"/>
                <a:cs typeface="Source Sans Pro"/>
                <a:sym typeface="Source Sans Pro"/>
              </a:rPr>
              <a:t>: </a:t>
            </a:r>
            <a:endParaRPr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lang="en" sz="1200">
                <a:solidFill>
                  <a:srgbClr val="FFFFFF"/>
                </a:solidFill>
                <a:latin typeface="Source Sans Pro"/>
                <a:ea typeface="Source Sans Pro"/>
                <a:cs typeface="Source Sans Pro"/>
                <a:sym typeface="Source Sans Pro"/>
              </a:rPr>
              <a:t>Trains one pre-trained model and saves the model weights + train history with early stopping. (Ran multiple times across all models)</a:t>
            </a:r>
            <a:endParaRPr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Hyperparameters:</a:t>
            </a:r>
            <a:endParaRPr b="1" sz="1200">
              <a:solidFill>
                <a:srgbClr val="FFFFFF"/>
              </a:solidFill>
              <a:latin typeface="Source Sans Pro"/>
              <a:ea typeface="Source Sans Pro"/>
              <a:cs typeface="Source Sans Pro"/>
              <a:sym typeface="Source Sans Pro"/>
            </a:endParaRPr>
          </a:p>
          <a:p>
            <a:pPr indent="-304800" lvl="2" marL="1371600" rtl="0" algn="l">
              <a:lnSpc>
                <a:spcPct val="125000"/>
              </a:lnSpc>
              <a:spcBef>
                <a:spcPts val="0"/>
              </a:spcBef>
              <a:spcAft>
                <a:spcPts val="0"/>
              </a:spcAft>
              <a:buClr>
                <a:srgbClr val="FFFFFF"/>
              </a:buClr>
              <a:buSzPts val="1200"/>
              <a:buFont typeface="Source Sans Pro"/>
              <a:buChar char="■"/>
            </a:pPr>
            <a:r>
              <a:rPr lang="en" sz="1200">
                <a:solidFill>
                  <a:srgbClr val="FFFFFF"/>
                </a:solidFill>
                <a:latin typeface="Source Sans Pro"/>
                <a:ea typeface="Source Sans Pro"/>
                <a:cs typeface="Source Sans Pro"/>
                <a:sym typeface="Source Sans Pro"/>
              </a:rPr>
              <a:t>Batch Size: 64, Epochs: 30, Learning Rate: 1e-4, Optimizer: Adam, Loss Function: Cross Entropy, Early Stopping Threshold: 7 epochs.</a:t>
            </a:r>
            <a:endParaRPr sz="1200">
              <a:solidFill>
                <a:srgbClr val="FFFFFF"/>
              </a:solidFill>
              <a:latin typeface="Source Sans Pro"/>
              <a:ea typeface="Source Sans Pro"/>
              <a:cs typeface="Source Sans Pro"/>
              <a:sym typeface="Source Sans Pro"/>
            </a:endParaRPr>
          </a:p>
          <a:p>
            <a:pPr indent="-304800" lvl="0" marL="4572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Model Evaluation (</a:t>
            </a:r>
            <a:r>
              <a:rPr b="1" lang="en" sz="1200">
                <a:solidFill>
                  <a:srgbClr val="FFFFFF"/>
                </a:solidFill>
                <a:latin typeface="Courier New"/>
                <a:ea typeface="Courier New"/>
                <a:cs typeface="Courier New"/>
                <a:sym typeface="Courier New"/>
              </a:rPr>
              <a:t>03_evaluate.ipynb</a:t>
            </a:r>
            <a:r>
              <a:rPr b="1" lang="en" sz="1200">
                <a:solidFill>
                  <a:srgbClr val="FFFFFF"/>
                </a:solidFill>
                <a:latin typeface="Source Sans Pro"/>
                <a:ea typeface="Source Sans Pro"/>
                <a:cs typeface="Source Sans Pro"/>
                <a:sym typeface="Source Sans Pro"/>
              </a:rPr>
              <a:t>)</a:t>
            </a:r>
            <a:r>
              <a:rPr lang="en" sz="1200">
                <a:solidFill>
                  <a:srgbClr val="FFFFFF"/>
                </a:solidFill>
                <a:latin typeface="Source Sans Pro"/>
                <a:ea typeface="Source Sans Pro"/>
                <a:cs typeface="Source Sans Pro"/>
                <a:sym typeface="Source Sans Pro"/>
              </a:rPr>
              <a:t>: </a:t>
            </a:r>
            <a:endParaRPr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lang="en" sz="1200">
                <a:solidFill>
                  <a:srgbClr val="FFFFFF"/>
                </a:solidFill>
                <a:latin typeface="Source Sans Pro"/>
                <a:ea typeface="Source Sans Pro"/>
                <a:cs typeface="Source Sans Pro"/>
                <a:sym typeface="Source Sans Pro"/>
              </a:rPr>
              <a:t>Tests all saved model weights against the test dataset provided by FER2013 </a:t>
            </a:r>
            <a:endParaRPr sz="1200">
              <a:solidFill>
                <a:srgbClr val="FFFFFF"/>
              </a:solidFill>
              <a:latin typeface="Source Sans Pro"/>
              <a:ea typeface="Source Sans Pro"/>
              <a:cs typeface="Source Sans Pro"/>
              <a:sym typeface="Source Sans Pro"/>
            </a:endParaRPr>
          </a:p>
        </p:txBody>
      </p:sp>
      <p:sp>
        <p:nvSpPr>
          <p:cNvPr id="571" name="Google Shape;571;p73"/>
          <p:cNvSpPr txBox="1"/>
          <p:nvPr>
            <p:ph type="title"/>
          </p:nvPr>
        </p:nvSpPr>
        <p:spPr>
          <a:xfrm>
            <a:off x="1406550" y="36930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Workflow</a:t>
            </a:r>
            <a:endParaRPr/>
          </a:p>
        </p:txBody>
      </p:sp>
      <p:pic>
        <p:nvPicPr>
          <p:cNvPr id="572" name="Google Shape;572;p73"/>
          <p:cNvPicPr preferRelativeResize="0"/>
          <p:nvPr/>
        </p:nvPicPr>
        <p:blipFill>
          <a:blip r:embed="rId3">
            <a:alphaModFix/>
          </a:blip>
          <a:stretch>
            <a:fillRect/>
          </a:stretch>
        </p:blipFill>
        <p:spPr>
          <a:xfrm>
            <a:off x="5122725" y="885826"/>
            <a:ext cx="3571775" cy="3830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4"/>
          <p:cNvSpPr txBox="1"/>
          <p:nvPr>
            <p:ph idx="8" type="body"/>
          </p:nvPr>
        </p:nvSpPr>
        <p:spPr>
          <a:xfrm>
            <a:off x="361975" y="942350"/>
            <a:ext cx="6018300" cy="1782600"/>
          </a:xfrm>
          <a:prstGeom prst="rect">
            <a:avLst/>
          </a:prstGeom>
        </p:spPr>
        <p:txBody>
          <a:bodyPr anchorCtr="0" anchor="t" bIns="0" lIns="0" spcFirstLastPara="1" rIns="0" wrap="square" tIns="0">
            <a:noAutofit/>
          </a:bodyPr>
          <a:lstStyle/>
          <a:p>
            <a:pPr indent="-304800" lvl="0" marL="4572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Most models converge before 30 epochs: </a:t>
            </a:r>
            <a:r>
              <a:rPr lang="en" sz="1200">
                <a:solidFill>
                  <a:srgbClr val="FFFFFF"/>
                </a:solidFill>
                <a:latin typeface="Source Sans Pro"/>
                <a:ea typeface="Source Sans Pro"/>
                <a:cs typeface="Source Sans Pro"/>
                <a:sym typeface="Source Sans Pro"/>
              </a:rPr>
              <a:t>Most Val Loss/Accuracy plateaus at around 15 epochs, as showing by the early stopping in the training history visualizations.</a:t>
            </a:r>
            <a:endParaRPr sz="1200">
              <a:solidFill>
                <a:srgbClr val="FFFFFF"/>
              </a:solidFill>
              <a:latin typeface="Source Sans Pro"/>
              <a:ea typeface="Source Sans Pro"/>
              <a:cs typeface="Source Sans Pro"/>
              <a:sym typeface="Source Sans Pro"/>
            </a:endParaRPr>
          </a:p>
          <a:p>
            <a:pPr indent="-304800" lvl="0" marL="4572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Best Performing Model: </a:t>
            </a:r>
            <a:r>
              <a:rPr lang="en" sz="1200">
                <a:solidFill>
                  <a:srgbClr val="FFFFFF"/>
                </a:solidFill>
                <a:latin typeface="Source Sans Pro"/>
                <a:ea typeface="Source Sans Pro"/>
                <a:cs typeface="Source Sans Pro"/>
                <a:sym typeface="Source Sans Pro"/>
              </a:rPr>
              <a:t>EfficientNet V2 across all metrics: (accuracy, f1, precision, recall)</a:t>
            </a:r>
            <a:endParaRPr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lang="en" sz="1200">
                <a:solidFill>
                  <a:srgbClr val="FFFFFF"/>
                </a:solidFill>
                <a:latin typeface="Source Sans Pro"/>
                <a:ea typeface="Source Sans Pro"/>
                <a:cs typeface="Source Sans Pro"/>
                <a:sym typeface="Source Sans Pro"/>
              </a:rPr>
              <a:t>Across all models, no significant difference between </a:t>
            </a:r>
            <a:r>
              <a:rPr lang="en" sz="1200">
                <a:solidFill>
                  <a:srgbClr val="FFFFFF"/>
                </a:solidFill>
                <a:latin typeface="Source Sans Pro"/>
                <a:ea typeface="Source Sans Pro"/>
                <a:cs typeface="Source Sans Pro"/>
                <a:sym typeface="Source Sans Pro"/>
              </a:rPr>
              <a:t>accuracy, f1, precision, recall.</a:t>
            </a:r>
            <a:endParaRPr sz="1200">
              <a:solidFill>
                <a:srgbClr val="FFFFFF"/>
              </a:solidFill>
              <a:latin typeface="Source Sans Pro"/>
              <a:ea typeface="Source Sans Pro"/>
              <a:cs typeface="Source Sans Pro"/>
              <a:sym typeface="Source Sans Pro"/>
            </a:endParaRPr>
          </a:p>
          <a:p>
            <a:pPr indent="-304800" lvl="0" marL="4572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Worst Performing Model</a:t>
            </a:r>
            <a:r>
              <a:rPr lang="en" sz="1200">
                <a:solidFill>
                  <a:srgbClr val="FFFFFF"/>
                </a:solidFill>
                <a:latin typeface="Source Sans Pro"/>
                <a:ea typeface="Source Sans Pro"/>
                <a:cs typeface="Source Sans Pro"/>
                <a:sym typeface="Source Sans Pro"/>
              </a:rPr>
              <a:t>: Mobilenet_v3_small performed the worst, having an accuracy of 0.658, still indicating strong performance.</a:t>
            </a:r>
            <a:endParaRPr sz="1200">
              <a:solidFill>
                <a:srgbClr val="FFFFFF"/>
              </a:solidFill>
              <a:latin typeface="Source Sans Pro"/>
              <a:ea typeface="Source Sans Pro"/>
              <a:cs typeface="Source Sans Pro"/>
              <a:sym typeface="Source Sans Pro"/>
            </a:endParaRPr>
          </a:p>
        </p:txBody>
      </p:sp>
      <p:sp>
        <p:nvSpPr>
          <p:cNvPr id="578" name="Google Shape;578;p74"/>
          <p:cNvSpPr txBox="1"/>
          <p:nvPr>
            <p:ph type="title"/>
          </p:nvPr>
        </p:nvSpPr>
        <p:spPr>
          <a:xfrm>
            <a:off x="1406550" y="36930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Results Analysis Pt. 1</a:t>
            </a:r>
            <a:endParaRPr/>
          </a:p>
          <a:p>
            <a:pPr indent="0" lvl="0" marL="0" rtl="0" algn="l">
              <a:spcBef>
                <a:spcPts val="0"/>
              </a:spcBef>
              <a:spcAft>
                <a:spcPts val="0"/>
              </a:spcAft>
              <a:buNone/>
            </a:pPr>
            <a:r>
              <a:t/>
            </a:r>
            <a:endParaRPr/>
          </a:p>
        </p:txBody>
      </p:sp>
      <p:pic>
        <p:nvPicPr>
          <p:cNvPr id="579" name="Google Shape;579;p74"/>
          <p:cNvPicPr preferRelativeResize="0"/>
          <p:nvPr/>
        </p:nvPicPr>
        <p:blipFill>
          <a:blip r:embed="rId3">
            <a:alphaModFix/>
          </a:blip>
          <a:stretch>
            <a:fillRect/>
          </a:stretch>
        </p:blipFill>
        <p:spPr>
          <a:xfrm>
            <a:off x="361975" y="2861768"/>
            <a:ext cx="8584412" cy="2113750"/>
          </a:xfrm>
          <a:prstGeom prst="rect">
            <a:avLst/>
          </a:prstGeom>
          <a:noFill/>
          <a:ln>
            <a:noFill/>
          </a:ln>
        </p:spPr>
      </p:pic>
      <p:pic>
        <p:nvPicPr>
          <p:cNvPr id="580" name="Google Shape;580;p74"/>
          <p:cNvPicPr preferRelativeResize="0"/>
          <p:nvPr/>
        </p:nvPicPr>
        <p:blipFill>
          <a:blip r:embed="rId4">
            <a:alphaModFix/>
          </a:blip>
          <a:stretch>
            <a:fillRect/>
          </a:stretch>
        </p:blipFill>
        <p:spPr>
          <a:xfrm>
            <a:off x="6380275" y="716125"/>
            <a:ext cx="2634323" cy="1782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5"/>
          <p:cNvSpPr txBox="1"/>
          <p:nvPr>
            <p:ph idx="8" type="body"/>
          </p:nvPr>
        </p:nvSpPr>
        <p:spPr>
          <a:xfrm>
            <a:off x="361975" y="942350"/>
            <a:ext cx="4572000" cy="4008900"/>
          </a:xfrm>
          <a:prstGeom prst="rect">
            <a:avLst/>
          </a:prstGeom>
        </p:spPr>
        <p:txBody>
          <a:bodyPr anchorCtr="0" anchor="t" bIns="0" lIns="0" spcFirstLastPara="1" rIns="0" wrap="square" tIns="0">
            <a:noAutofit/>
          </a:bodyPr>
          <a:lstStyle/>
          <a:p>
            <a:pPr indent="-304800" lvl="0" marL="4572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Generalized Class Performance:</a:t>
            </a:r>
            <a:endParaRPr b="1"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Happy </a:t>
            </a:r>
            <a:r>
              <a:rPr lang="en" sz="1200">
                <a:solidFill>
                  <a:srgbClr val="FFFFFF"/>
                </a:solidFill>
                <a:latin typeface="Source Sans Pro"/>
                <a:ea typeface="Source Sans Pro"/>
                <a:cs typeface="Source Sans Pro"/>
                <a:sym typeface="Source Sans Pro"/>
              </a:rPr>
              <a:t>and </a:t>
            </a:r>
            <a:r>
              <a:rPr b="1" lang="en" sz="1200">
                <a:solidFill>
                  <a:srgbClr val="FFFFFF"/>
                </a:solidFill>
                <a:latin typeface="Source Sans Pro"/>
                <a:ea typeface="Source Sans Pro"/>
                <a:cs typeface="Source Sans Pro"/>
                <a:sym typeface="Source Sans Pro"/>
              </a:rPr>
              <a:t>Surprise </a:t>
            </a:r>
            <a:r>
              <a:rPr lang="en" sz="1200">
                <a:solidFill>
                  <a:srgbClr val="FFFFFF"/>
                </a:solidFill>
                <a:latin typeface="Source Sans Pro"/>
                <a:ea typeface="Source Sans Pro"/>
                <a:cs typeface="Source Sans Pro"/>
                <a:sym typeface="Source Sans Pro"/>
              </a:rPr>
              <a:t>were most correctly labeled by all models: 0.90, 0.83 by efficient net respectively.</a:t>
            </a:r>
            <a:endParaRPr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lang="en" sz="1200">
                <a:solidFill>
                  <a:srgbClr val="FFFFFF"/>
                </a:solidFill>
                <a:latin typeface="Source Sans Pro"/>
                <a:ea typeface="Source Sans Pro"/>
                <a:cs typeface="Source Sans Pro"/>
                <a:sym typeface="Source Sans Pro"/>
              </a:rPr>
              <a:t>Most models failed to correctly label </a:t>
            </a:r>
            <a:r>
              <a:rPr b="1" lang="en" sz="1200">
                <a:solidFill>
                  <a:srgbClr val="FFFFFF"/>
                </a:solidFill>
                <a:latin typeface="Source Sans Pro"/>
                <a:ea typeface="Source Sans Pro"/>
                <a:cs typeface="Source Sans Pro"/>
                <a:sym typeface="Source Sans Pro"/>
              </a:rPr>
              <a:t>Fear</a:t>
            </a:r>
            <a:r>
              <a:rPr lang="en" sz="1200">
                <a:solidFill>
                  <a:srgbClr val="FFFFFF"/>
                </a:solidFill>
                <a:latin typeface="Source Sans Pro"/>
                <a:ea typeface="Source Sans Pro"/>
                <a:cs typeface="Source Sans Pro"/>
                <a:sym typeface="Source Sans Pro"/>
              </a:rPr>
              <a:t>, (0.51 by efficient net)</a:t>
            </a:r>
            <a:endParaRPr sz="1200">
              <a:solidFill>
                <a:srgbClr val="FFFFFF"/>
              </a:solidFill>
              <a:latin typeface="Source Sans Pro"/>
              <a:ea typeface="Source Sans Pro"/>
              <a:cs typeface="Source Sans Pro"/>
              <a:sym typeface="Source Sans Pro"/>
            </a:endParaRPr>
          </a:p>
          <a:p>
            <a:pPr indent="-304800" lvl="0" marL="4572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While EfficientNet V2 had the best test performance overall, it did not score the highest amongst every class/emotion.</a:t>
            </a:r>
            <a:endParaRPr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lang="en" sz="1200">
                <a:solidFill>
                  <a:srgbClr val="FFFFFF"/>
                </a:solidFill>
                <a:latin typeface="Source Sans Pro"/>
                <a:ea typeface="Source Sans Pro"/>
                <a:cs typeface="Source Sans Pro"/>
                <a:sym typeface="Source Sans Pro"/>
              </a:rPr>
              <a:t>Worse-performing </a:t>
            </a:r>
            <a:r>
              <a:rPr lang="en" sz="1200">
                <a:solidFill>
                  <a:srgbClr val="FFFFFF"/>
                </a:solidFill>
                <a:latin typeface="Source Sans Pro"/>
                <a:ea typeface="Source Sans Pro"/>
                <a:cs typeface="Source Sans Pro"/>
                <a:sym typeface="Source Sans Pro"/>
              </a:rPr>
              <a:t>models such as MobileNet V3 (.658 accuracy) and ShuffleNet V2 (.676 accuracy) outscored EfficientNet on </a:t>
            </a:r>
            <a:r>
              <a:rPr b="1" lang="en" sz="1200">
                <a:solidFill>
                  <a:srgbClr val="FFFFFF"/>
                </a:solidFill>
                <a:latin typeface="Source Sans Pro"/>
                <a:ea typeface="Source Sans Pro"/>
                <a:cs typeface="Source Sans Pro"/>
                <a:sym typeface="Source Sans Pro"/>
              </a:rPr>
              <a:t>Disgust </a:t>
            </a:r>
            <a:r>
              <a:rPr lang="en" sz="1200">
                <a:solidFill>
                  <a:srgbClr val="FFFFFF"/>
                </a:solidFill>
                <a:latin typeface="Source Sans Pro"/>
                <a:ea typeface="Source Sans Pro"/>
                <a:cs typeface="Source Sans Pro"/>
                <a:sym typeface="Source Sans Pro"/>
              </a:rPr>
              <a:t>(0.77, 0.71 vs. 0.62) and others.</a:t>
            </a:r>
            <a:endParaRPr b="1" sz="1200">
              <a:solidFill>
                <a:srgbClr val="FFFFFF"/>
              </a:solidFill>
              <a:latin typeface="Source Sans Pro"/>
              <a:ea typeface="Source Sans Pro"/>
              <a:cs typeface="Source Sans Pro"/>
              <a:sym typeface="Source Sans Pro"/>
            </a:endParaRPr>
          </a:p>
          <a:p>
            <a:pPr indent="-304800" lvl="1" marL="914400" rtl="0" algn="l">
              <a:lnSpc>
                <a:spcPct val="125000"/>
              </a:lnSpc>
              <a:spcBef>
                <a:spcPts val="0"/>
              </a:spcBef>
              <a:spcAft>
                <a:spcPts val="0"/>
              </a:spcAft>
              <a:buClr>
                <a:srgbClr val="FFFFFF"/>
              </a:buClr>
              <a:buSzPts val="1200"/>
              <a:buFont typeface="Source Sans Pro"/>
              <a:buChar char="○"/>
            </a:pPr>
            <a:r>
              <a:rPr b="1" lang="en" sz="1200">
                <a:solidFill>
                  <a:srgbClr val="FFFFFF"/>
                </a:solidFill>
                <a:latin typeface="Source Sans Pro"/>
                <a:ea typeface="Source Sans Pro"/>
                <a:cs typeface="Source Sans Pro"/>
                <a:sym typeface="Source Sans Pro"/>
              </a:rPr>
              <a:t>→ Cannot concretely say EfficientNet is the best model to use! Dependent on both test dataset (skewed towards happy and fear) as well as use case (which emotions should we prioritize, if not all of them equally?</a:t>
            </a:r>
            <a:endParaRPr b="1" sz="1200">
              <a:solidFill>
                <a:srgbClr val="FFFFFF"/>
              </a:solidFill>
              <a:latin typeface="Source Sans Pro"/>
              <a:ea typeface="Source Sans Pro"/>
              <a:cs typeface="Source Sans Pro"/>
              <a:sym typeface="Source Sans Pro"/>
            </a:endParaRPr>
          </a:p>
          <a:p>
            <a:pPr indent="0" lvl="0" marL="0" rtl="0" algn="l">
              <a:lnSpc>
                <a:spcPct val="125000"/>
              </a:lnSpc>
              <a:spcBef>
                <a:spcPts val="0"/>
              </a:spcBef>
              <a:spcAft>
                <a:spcPts val="0"/>
              </a:spcAft>
              <a:buNone/>
            </a:pPr>
            <a:r>
              <a:t/>
            </a:r>
            <a:endParaRPr sz="1200">
              <a:solidFill>
                <a:srgbClr val="FFFFFF"/>
              </a:solidFill>
              <a:latin typeface="Source Sans Pro"/>
              <a:ea typeface="Source Sans Pro"/>
              <a:cs typeface="Source Sans Pro"/>
              <a:sym typeface="Source Sans Pro"/>
            </a:endParaRPr>
          </a:p>
        </p:txBody>
      </p:sp>
      <p:sp>
        <p:nvSpPr>
          <p:cNvPr id="586" name="Google Shape;586;p75"/>
          <p:cNvSpPr txBox="1"/>
          <p:nvPr>
            <p:ph type="title"/>
          </p:nvPr>
        </p:nvSpPr>
        <p:spPr>
          <a:xfrm>
            <a:off x="1406550" y="36930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Results Analysis Pt. 2</a:t>
            </a:r>
            <a:endParaRPr/>
          </a:p>
        </p:txBody>
      </p:sp>
      <p:pic>
        <p:nvPicPr>
          <p:cNvPr id="587" name="Google Shape;587;p75"/>
          <p:cNvPicPr preferRelativeResize="0"/>
          <p:nvPr/>
        </p:nvPicPr>
        <p:blipFill>
          <a:blip r:embed="rId3">
            <a:alphaModFix/>
          </a:blip>
          <a:stretch>
            <a:fillRect/>
          </a:stretch>
        </p:blipFill>
        <p:spPr>
          <a:xfrm>
            <a:off x="5401049" y="1056623"/>
            <a:ext cx="3517374" cy="3030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6"/>
          <p:cNvSpPr txBox="1"/>
          <p:nvPr>
            <p:ph idx="4294967295" type="title"/>
          </p:nvPr>
        </p:nvSpPr>
        <p:spPr>
          <a:xfrm>
            <a:off x="1453650" y="964400"/>
            <a:ext cx="6236700" cy="331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Takeaways </a:t>
            </a:r>
            <a:endParaRPr>
              <a:solidFill>
                <a:srgbClr val="FFFFFF"/>
              </a:solidFill>
            </a:endParaRPr>
          </a:p>
          <a:p>
            <a:pPr indent="0" lvl="0" marL="0" rtl="0" algn="l">
              <a:spcBef>
                <a:spcPts val="0"/>
              </a:spcBef>
              <a:spcAft>
                <a:spcPts val="0"/>
              </a:spcAft>
              <a:buNone/>
            </a:pPr>
            <a:r>
              <a:t/>
            </a:r>
            <a:endParaRPr sz="1800">
              <a:solidFill>
                <a:srgbClr val="FFFFFF"/>
              </a:solidFill>
            </a:endParaRPr>
          </a:p>
          <a:p>
            <a:pPr indent="-374650" lvl="0" marL="457200" rtl="0" algn="l">
              <a:spcBef>
                <a:spcPts val="0"/>
              </a:spcBef>
              <a:spcAft>
                <a:spcPts val="0"/>
              </a:spcAft>
              <a:buClr>
                <a:srgbClr val="FFFFFF"/>
              </a:buClr>
              <a:buSzPts val="2300"/>
              <a:buChar char="-"/>
            </a:pPr>
            <a:r>
              <a:rPr lang="en" sz="1800">
                <a:solidFill>
                  <a:srgbClr val="FFFFFF"/>
                </a:solidFill>
              </a:rPr>
              <a:t>Model accuracies are all in the 65-70% accuracy range.</a:t>
            </a:r>
            <a:endParaRPr sz="1800">
              <a:solidFill>
                <a:srgbClr val="FFFFFF"/>
              </a:solidFill>
            </a:endParaRPr>
          </a:p>
          <a:p>
            <a:pPr indent="-342900" lvl="0" marL="457200" rtl="0" algn="l">
              <a:spcBef>
                <a:spcPts val="0"/>
              </a:spcBef>
              <a:spcAft>
                <a:spcPts val="0"/>
              </a:spcAft>
              <a:buClr>
                <a:srgbClr val="FFFFFF"/>
              </a:buClr>
              <a:buSzPts val="1800"/>
              <a:buChar char="-"/>
            </a:pPr>
            <a:r>
              <a:rPr lang="en" sz="1800">
                <a:solidFill>
                  <a:srgbClr val="FFFFFF"/>
                </a:solidFill>
              </a:rPr>
              <a:t>A reason for this performance may be due to bottlenecks inherent to the dataset we used:</a:t>
            </a:r>
            <a:endParaRPr sz="1800">
              <a:solidFill>
                <a:srgbClr val="FFFFFF"/>
              </a:solidFill>
            </a:endParaRPr>
          </a:p>
          <a:p>
            <a:pPr indent="-342900" lvl="0" marL="457200" rtl="0" algn="l">
              <a:spcBef>
                <a:spcPts val="0"/>
              </a:spcBef>
              <a:spcAft>
                <a:spcPts val="0"/>
              </a:spcAft>
              <a:buClr>
                <a:srgbClr val="FFFFFF"/>
              </a:buClr>
              <a:buSzPts val="1800"/>
              <a:buChar char="-"/>
            </a:pPr>
            <a:r>
              <a:rPr lang="en" sz="1800">
                <a:solidFill>
                  <a:srgbClr val="FFFFFF"/>
                </a:solidFill>
              </a:rPr>
              <a:t>May need a dataset with a high amount of images to train on for certain emotions (especially ‘Disgust,’ ‘Surprise,’ ‘Angry’)</a:t>
            </a:r>
            <a:endParaRPr sz="1800">
              <a:solidFill>
                <a:srgbClr val="FFFFFF"/>
              </a:solidFill>
            </a:endParaRPr>
          </a:p>
          <a:p>
            <a:pPr indent="-342900" lvl="0" marL="457200" rtl="0" algn="l">
              <a:spcBef>
                <a:spcPts val="0"/>
              </a:spcBef>
              <a:spcAft>
                <a:spcPts val="0"/>
              </a:spcAft>
              <a:buClr>
                <a:srgbClr val="FFFFFF"/>
              </a:buClr>
              <a:buSzPts val="1800"/>
              <a:buChar char="-"/>
            </a:pPr>
            <a:r>
              <a:rPr lang="en" sz="1800">
                <a:solidFill>
                  <a:srgbClr val="FFFFFF"/>
                </a:solidFill>
              </a:rPr>
              <a:t>Dangers of privacy concerns since the model stores biological information (e.g. selling that information) due to real faces being fed into the algorithm, certain groups such as corporations and governments should not get a hold</a:t>
            </a:r>
            <a:endParaRPr sz="18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7"/>
          <p:cNvSpPr txBox="1"/>
          <p:nvPr>
            <p:ph type="title"/>
          </p:nvPr>
        </p:nvSpPr>
        <p:spPr>
          <a:xfrm>
            <a:off x="451472" y="2024100"/>
            <a:ext cx="4163100" cy="13725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Any questions?</a:t>
            </a:r>
            <a:endParaRPr/>
          </a:p>
        </p:txBody>
      </p:sp>
      <p:sp>
        <p:nvSpPr>
          <p:cNvPr id="598" name="Google Shape;598;p77"/>
          <p:cNvSpPr txBox="1"/>
          <p:nvPr>
            <p:ph idx="1" type="subTitle"/>
          </p:nvPr>
        </p:nvSpPr>
        <p:spPr>
          <a:xfrm>
            <a:off x="451475" y="3776250"/>
            <a:ext cx="3370500" cy="100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GitHub repository of the code linked here: </a:t>
            </a:r>
            <a:r>
              <a:rPr lang="en" u="sng">
                <a:solidFill>
                  <a:schemeClr val="hlink"/>
                </a:solidFill>
                <a:hlinkClick r:id="rId3"/>
              </a:rPr>
              <a:t>https://github.com/jt187276/FER2013-Facial-Recognition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